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64" r:id="rId4"/>
    <p:sldId id="257" r:id="rId5"/>
    <p:sldId id="258" r:id="rId6"/>
    <p:sldId id="259" r:id="rId7"/>
    <p:sldId id="261" r:id="rId8"/>
    <p:sldId id="262" r:id="rId9"/>
    <p:sldId id="263" r:id="rId10"/>
    <p:sldId id="269" r:id="rId11"/>
    <p:sldId id="268" r:id="rId12"/>
    <p:sldId id="265" r:id="rId13"/>
    <p:sldId id="267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8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576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28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392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257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708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93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35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467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51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52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3215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93337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1665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0107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7994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025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706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0808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ens and rulers">
            <a:extLst>
              <a:ext uri="{FF2B5EF4-FFF2-40B4-BE49-F238E27FC236}">
                <a16:creationId xmlns:a16="http://schemas.microsoft.com/office/drawing/2014/main" id="{898BCAFD-B0C7-9AB3-48E8-50A1646E62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53" b="867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20" name="Freeform 5">
            <a:extLst>
              <a:ext uri="{FF2B5EF4-FFF2-40B4-BE49-F238E27FC236}">
                <a16:creationId xmlns:a16="http://schemas.microsoft.com/office/drawing/2014/main" id="{608EAA06-5488-416B-B2B2-E55213011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2769538" y="445383"/>
            <a:ext cx="1995577" cy="7534653"/>
          </a:xfrm>
          <a:prstGeom prst="round2SameRect">
            <a:avLst>
              <a:gd name="adj1" fmla="val 9679"/>
              <a:gd name="adj2" fmla="val 400"/>
            </a:avLst>
          </a:pr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FF78D2-AFC5-C86A-11EB-8456A923B9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335" y="3496574"/>
            <a:ext cx="6436104" cy="1138686"/>
          </a:xfrm>
        </p:spPr>
        <p:txBody>
          <a:bodyPr>
            <a:normAutofit/>
          </a:bodyPr>
          <a:lstStyle/>
          <a:p>
            <a:pPr algn="l"/>
            <a:r>
              <a:rPr lang="en-US" sz="4400"/>
              <a:t>Capstone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7DB69B-E246-D0F0-555E-2362439047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335" y="4548996"/>
            <a:ext cx="6436104" cy="534838"/>
          </a:xfrm>
        </p:spPr>
        <p:txBody>
          <a:bodyPr>
            <a:normAutofit/>
          </a:bodyPr>
          <a:lstStyle/>
          <a:p>
            <a:pPr algn="l"/>
            <a:r>
              <a:rPr lang="en-US" sz="1800" dirty="0">
                <a:solidFill>
                  <a:srgbClr val="BE4E3A"/>
                </a:solidFill>
              </a:rPr>
              <a:t>MALAIKA TARIQ </a:t>
            </a:r>
          </a:p>
        </p:txBody>
      </p:sp>
    </p:spTree>
    <p:extLst>
      <p:ext uri="{BB962C8B-B14F-4D97-AF65-F5344CB8AC3E}">
        <p14:creationId xmlns:p14="http://schemas.microsoft.com/office/powerpoint/2010/main" val="3196654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B01E8-B568-1EFA-419D-9152D5231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82374-91D6-F78D-55FC-2C07836B9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300603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dirty="0"/>
              <a:t>I was assigned to perform a sales analysis for  EmporiUm, a student bookstore chain that also sells tech products, art supplies, and other products in the state of South Carolina (In-Store).</a:t>
            </a:r>
          </a:p>
          <a:p>
            <a:pPr marL="36900" indent="0">
              <a:buNone/>
            </a:pPr>
            <a:r>
              <a:rPr lang="en-US" dirty="0"/>
              <a:t>Len Jensen, manager for South Carolina assigned me to analyze:</a:t>
            </a:r>
          </a:p>
          <a:p>
            <a:r>
              <a:rPr lang="en-US" dirty="0"/>
              <a:t>Sales data for two in-store locations;  </a:t>
            </a:r>
          </a:p>
          <a:p>
            <a:pPr marL="36900" indent="0">
              <a:buNone/>
            </a:pPr>
            <a:r>
              <a:rPr lang="en-US" dirty="0"/>
              <a:t>                 -  Greenville (Store 853)</a:t>
            </a:r>
          </a:p>
          <a:p>
            <a:pPr marL="36900" indent="0">
              <a:buNone/>
            </a:pPr>
            <a:r>
              <a:rPr lang="en-US" dirty="0"/>
              <a:t>                 -  Charleston (Store 852)     </a:t>
            </a:r>
          </a:p>
          <a:p>
            <a:r>
              <a:rPr lang="en-US" dirty="0"/>
              <a:t>Date period: January 1, 2022 - December 30,2025 (4 years)  </a:t>
            </a:r>
          </a:p>
          <a:p>
            <a:r>
              <a:rPr lang="en-US" dirty="0"/>
              <a:t>Answer key questions about the territory’s sales performance.              </a:t>
            </a:r>
          </a:p>
          <a:p>
            <a:pPr marL="3690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730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134A7-8080-CBDA-D5DA-DC875927A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12227-F742-B5FE-802D-13CBC09F6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What is total revenue overall for sales in the assigned territory, plus the start date and end date that tell you what period the data covers?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is the month by month revenue breakdown for the sales territory?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Provide a comparison of total revenue for the specific sales territory and the region it belongs to.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is the number of transactions per month and average transaction size by product category for the sales territory?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Can you provide a ranking of in-store sales performance by each store in the sales territory, or a ranking of online sales performance by state within an online sales territory?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What is your recommendation for where to focus sales attention in the next quarter?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634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AA0E91-312C-34E9-963E-1C7A9B038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400" dirty="0"/>
              <a:t>1. What is total revenue overall for sales in the South Carolina territory, plus the start date and end date that tell you what period the data covers?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A2904-CD47-DF5A-23C4-AB9FC3F1E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A614EF3-EC45-20D1-8DF4-6C10ACC4A6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Query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247397A6-FF2F-193B-C73A-FE8DBF8506F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694" y="2737718"/>
            <a:ext cx="4591878" cy="27218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78AC6D9C-9E2C-588F-009E-03A88BBB416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428" y="3171266"/>
            <a:ext cx="4591879" cy="181817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45837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D2D70-70CA-ECE6-781C-1EB7FE3EB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FA1589-F1C3-B2FF-5E37-0B6FACC89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400" dirty="0"/>
              <a:t>2. What is the month-by-month revenue breakdown for the sales territory?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463F80-0CCA-B00A-2C9B-BA3F0A34CF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DC20509-D254-8D7E-94AB-D88880257E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564" y="2380136"/>
            <a:ext cx="1967948" cy="341153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33739D1-0B74-8131-4AE4-A3D2812ED5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Query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6BB58FCF-8D74-55FA-8400-2E6F62CCCB7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438" y="2635341"/>
            <a:ext cx="4829849" cy="278148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7DB201-139C-6664-1C12-48ABFE3E27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9887" y="2380136"/>
            <a:ext cx="2072780" cy="341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898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256C8-6EC8-4A9B-9F67-C1DC0B23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E52E67-DEC4-BA06-18E9-D7972F56C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400" dirty="0"/>
              <a:t>3. Provide a comparison of total revenue for the South Carolina sales territory and the region it belongs to.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74CE91-5525-1ABC-D10A-C5FA3B97C0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918D907-2E38-375A-83BC-04BCFF0CF81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470" y="3230218"/>
            <a:ext cx="4306956" cy="144108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DBED5-B1DA-010B-90A4-F91E1DE151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Query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E464403B-985B-B553-65F1-32EF59325DC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852" y="2379663"/>
            <a:ext cx="4134678" cy="341153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792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00FA9-CDF8-75B2-E92A-4F097CB55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FA274C-F9BA-9031-1DB3-A9430AACE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400" dirty="0"/>
              <a:t>4. What is the number of transactions per month and average transaction size by product category for the sales territory?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8A8A28-295C-4DB3-ECD4-B81ED17DF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E99ED28-4233-8A7D-2E87-D3E3F20B643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626" y="2380137"/>
            <a:ext cx="3866322" cy="341153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99A4A8D-D02D-5615-3116-81116EA08D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Query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E0F7708C-4DBE-CBFE-2E25-B94FD4352D6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438" y="2551519"/>
            <a:ext cx="4895850" cy="306782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8144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103DD-5EF9-03CA-2147-2C6C1632C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23F294-63A0-E7F3-6A95-7E8E1AFBE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400" dirty="0"/>
              <a:t>5. Can you provide a ranking of in-store sales performance by each store in the sales territory, or a ranking of online sales performance by state within an online sales territory?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BB7D5B-F11A-2179-AB5C-2015F0E4D6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007B36D2-D7C5-9B2C-432F-2D5A8E29C04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206" y="3271332"/>
            <a:ext cx="4875213" cy="122481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DBF1932-D49E-554A-1C5A-BC84EAACF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Query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65758A6-7C7B-CB9F-6AC2-6F3F496C0F4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438" y="2635341"/>
            <a:ext cx="4895850" cy="282124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36336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74D9A-5C83-5EAA-3D5F-C0ACEC008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1E9130-D7A2-EAFF-5930-140945D88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400" dirty="0"/>
              <a:t>6. What is your recommendation for where to focus sales attention in the next quarter?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187F74-924C-F350-C23F-A4DA6E613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1703" y="1616626"/>
            <a:ext cx="4876344" cy="544884"/>
          </a:xfrm>
        </p:spPr>
        <p:txBody>
          <a:bodyPr/>
          <a:lstStyle/>
          <a:p>
            <a:r>
              <a:rPr lang="en-US" dirty="0"/>
              <a:t>Result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E7CB86-E8D4-7016-0239-A9448B03AF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94438" y="1616626"/>
            <a:ext cx="4895330" cy="544883"/>
          </a:xfrm>
        </p:spPr>
        <p:txBody>
          <a:bodyPr/>
          <a:lstStyle/>
          <a:p>
            <a:r>
              <a:rPr lang="en-US" dirty="0"/>
              <a:t>Query</a:t>
            </a:r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82F1C0E6-9F43-36C3-4C3D-79937346300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787" y="2161044"/>
            <a:ext cx="4658176" cy="341153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29" name="Content Placeholder 28">
            <a:extLst>
              <a:ext uri="{FF2B5EF4-FFF2-40B4-BE49-F238E27FC236}">
                <a16:creationId xmlns:a16="http://schemas.microsoft.com/office/drawing/2014/main" id="{F88CC351-5C06-0691-8FB8-14C11FB5767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3918" y="2241868"/>
            <a:ext cx="4895850" cy="318126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2298F63-DD5E-7793-629F-55560DB6B0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88" y="5652940"/>
            <a:ext cx="11358997" cy="106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863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41277-14FF-C51C-D973-B0BAD0D3F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 Reached This Recommendation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E6CA0CF-0004-2B88-51FB-42CC0C7CD9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636898"/>
              </p:ext>
            </p:extLst>
          </p:nvPr>
        </p:nvGraphicFramePr>
        <p:xfrm>
          <a:off x="2139950" y="1580050"/>
          <a:ext cx="7886700" cy="49097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57625">
                  <a:extLst>
                    <a:ext uri="{9D8B030D-6E8A-4147-A177-3AD203B41FA5}">
                      <a16:colId xmlns:a16="http://schemas.microsoft.com/office/drawing/2014/main" val="2156681791"/>
                    </a:ext>
                  </a:extLst>
                </a:gridCol>
                <a:gridCol w="4029075">
                  <a:extLst>
                    <a:ext uri="{9D8B030D-6E8A-4147-A177-3AD203B41FA5}">
                      <a16:colId xmlns:a16="http://schemas.microsoft.com/office/drawing/2014/main" val="1069426006"/>
                    </a:ext>
                  </a:extLst>
                </a:gridCol>
              </a:tblGrid>
              <a:tr h="39742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 Display" panose="020B0004020202020204" pitchFamily="34" charset="0"/>
                        </a:rPr>
                        <a:t>Finding from Analysis</a:t>
                      </a:r>
                      <a:endParaRPr lang="en-US" sz="1200" kern="100" dirty="0">
                        <a:effectLst/>
                        <a:latin typeface="Aptos Display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43" marR="64643" marT="46174" marB="4617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 Display" panose="020B0004020202020204" pitchFamily="34" charset="0"/>
                        </a:rPr>
                        <a:t>What It Told Me</a:t>
                      </a:r>
                      <a:endParaRPr lang="en-US" sz="1200" kern="100" dirty="0">
                        <a:effectLst/>
                        <a:latin typeface="Aptos Display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43" marR="64643" marT="46174" marB="46174" anchor="ctr"/>
                </a:tc>
                <a:extLst>
                  <a:ext uri="{0D108BD9-81ED-4DB2-BD59-A6C34878D82A}">
                    <a16:rowId xmlns:a16="http://schemas.microsoft.com/office/drawing/2014/main" val="4049225475"/>
                  </a:ext>
                </a:extLst>
              </a:tr>
              <a:tr h="4685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 Display" panose="020B0004020202020204" pitchFamily="34" charset="0"/>
                        </a:rPr>
                        <a:t>Q1: Charleston store 852 generates $311,810.56 over the last 4 years</a:t>
                      </a:r>
                      <a:endParaRPr lang="en-US" sz="1200" kern="100" dirty="0">
                        <a:effectLst/>
                        <a:latin typeface="Aptos Display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43" marR="64643" marT="46174" marB="4617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 Display" panose="020B0004020202020204" pitchFamily="34" charset="0"/>
                        </a:rPr>
                        <a:t>Charleston store 852 is a strong, consistent revenue contributor</a:t>
                      </a:r>
                      <a:endParaRPr lang="en-US" sz="1200" kern="100" dirty="0">
                        <a:effectLst/>
                        <a:latin typeface="Aptos Display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43" marR="64643" marT="46174" marB="46174" anchor="ctr"/>
                </a:tc>
                <a:extLst>
                  <a:ext uri="{0D108BD9-81ED-4DB2-BD59-A6C34878D82A}">
                    <a16:rowId xmlns:a16="http://schemas.microsoft.com/office/drawing/2014/main" val="2288533312"/>
                  </a:ext>
                </a:extLst>
              </a:tr>
              <a:tr h="51081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 Display" panose="020B0004020202020204" pitchFamily="34" charset="0"/>
                        </a:rPr>
                        <a:t>Q2: Revenue up 119% since 2022</a:t>
                      </a:r>
                      <a:endParaRPr lang="en-US" sz="1200" kern="100" dirty="0">
                        <a:effectLst/>
                        <a:latin typeface="Aptos Display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43" marR="64643" marT="46174" marB="4617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 Display" panose="020B0004020202020204" pitchFamily="34" charset="0"/>
                        </a:rPr>
                        <a:t>Both stores are growing year over year with 2025 showing the strongest performance overall</a:t>
                      </a:r>
                      <a:endParaRPr lang="en-US" sz="1200" kern="100" dirty="0">
                        <a:effectLst/>
                        <a:latin typeface="Aptos Display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43" marR="64643" marT="46174" marB="46174" anchor="ctr"/>
                </a:tc>
                <a:extLst>
                  <a:ext uri="{0D108BD9-81ED-4DB2-BD59-A6C34878D82A}">
                    <a16:rowId xmlns:a16="http://schemas.microsoft.com/office/drawing/2014/main" val="1220706304"/>
                  </a:ext>
                </a:extLst>
              </a:tr>
              <a:tr h="6536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ptos Display" panose="020B0004020202020204" pitchFamily="34" charset="0"/>
                        </a:rPr>
                        <a:t>Q3: South Carolina is 8.1% of South Region. It has only 2 stores as compared to Florida and Texas </a:t>
                      </a:r>
                      <a:endParaRPr lang="en-US" sz="1200" kern="100">
                        <a:effectLst/>
                        <a:latin typeface="Aptos Display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43" marR="64643" marT="46174" marB="4617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 Display" panose="020B0004020202020204" pitchFamily="34" charset="0"/>
                        </a:rPr>
                        <a:t>There is room to grow market within the region</a:t>
                      </a:r>
                      <a:endParaRPr lang="en-US" sz="1200" kern="100" dirty="0">
                        <a:effectLst/>
                        <a:latin typeface="Aptos Display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43" marR="64643" marT="46174" marB="46174" anchor="ctr"/>
                </a:tc>
                <a:extLst>
                  <a:ext uri="{0D108BD9-81ED-4DB2-BD59-A6C34878D82A}">
                    <a16:rowId xmlns:a16="http://schemas.microsoft.com/office/drawing/2014/main" val="2606744067"/>
                  </a:ext>
                </a:extLst>
              </a:tr>
              <a:tr h="4685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ptos Display" panose="020B0004020202020204" pitchFamily="34" charset="0"/>
                        </a:rPr>
                        <a:t>Q4: Tech with revenue of $472,118.34 and average of $483.23</a:t>
                      </a:r>
                      <a:endParaRPr lang="en-US" sz="1200" kern="100">
                        <a:effectLst/>
                        <a:latin typeface="Aptos Display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43" marR="64643" marT="46174" marB="4617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 Display" panose="020B0004020202020204" pitchFamily="34" charset="0"/>
                        </a:rPr>
                        <a:t>Tech &amp; Accessories is the dominant revenue driver — prioritize it</a:t>
                      </a:r>
                      <a:endParaRPr lang="en-US" sz="1200" kern="100" dirty="0">
                        <a:effectLst/>
                        <a:latin typeface="Aptos Display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43" marR="64643" marT="46174" marB="46174" anchor="ctr"/>
                </a:tc>
                <a:extLst>
                  <a:ext uri="{0D108BD9-81ED-4DB2-BD59-A6C34878D82A}">
                    <a16:rowId xmlns:a16="http://schemas.microsoft.com/office/drawing/2014/main" val="4103198296"/>
                  </a:ext>
                </a:extLst>
              </a:tr>
              <a:tr h="4685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 Display" panose="020B0004020202020204" pitchFamily="34" charset="0"/>
                        </a:rPr>
                        <a:t>Q5: Greenville ranks #1 store overall </a:t>
                      </a:r>
                      <a:endParaRPr lang="en-US" sz="1200" kern="100" dirty="0">
                        <a:effectLst/>
                        <a:latin typeface="Aptos Display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43" marR="64643" marT="46174" marB="4617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 Display" panose="020B0004020202020204" pitchFamily="34" charset="0"/>
                        </a:rPr>
                        <a:t>Average transaction size is almost same in both stores </a:t>
                      </a:r>
                      <a:endParaRPr lang="en-US" sz="1200" kern="100" dirty="0">
                        <a:effectLst/>
                        <a:latin typeface="Aptos Display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43" marR="64643" marT="46174" marB="46174" anchor="ctr"/>
                </a:tc>
                <a:extLst>
                  <a:ext uri="{0D108BD9-81ED-4DB2-BD59-A6C34878D82A}">
                    <a16:rowId xmlns:a16="http://schemas.microsoft.com/office/drawing/2014/main" val="1040630806"/>
                  </a:ext>
                </a:extLst>
              </a:tr>
              <a:tr h="4685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ptos Display" panose="020B0004020202020204" pitchFamily="34" charset="0"/>
                        </a:rPr>
                        <a:t>Q6: Top customer spent $3,055.70</a:t>
                      </a:r>
                      <a:endParaRPr lang="en-US" sz="1200" kern="100">
                        <a:effectLst/>
                        <a:latin typeface="Aptos Display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43" marR="64643" marT="46174" marB="4617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 Display" panose="020B0004020202020204" pitchFamily="34" charset="0"/>
                        </a:rPr>
                        <a:t>Highest-value customers are concentrated in Tech</a:t>
                      </a:r>
                      <a:endParaRPr lang="en-US" sz="1200" kern="100" dirty="0">
                        <a:effectLst/>
                        <a:latin typeface="Aptos Display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43" marR="64643" marT="46174" marB="46174" anchor="ctr"/>
                </a:tc>
                <a:extLst>
                  <a:ext uri="{0D108BD9-81ED-4DB2-BD59-A6C34878D82A}">
                    <a16:rowId xmlns:a16="http://schemas.microsoft.com/office/drawing/2014/main" val="2440430892"/>
                  </a:ext>
                </a:extLst>
              </a:tr>
              <a:tr h="4685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ptos Display" panose="020B0004020202020204" pitchFamily="34" charset="0"/>
                        </a:rPr>
                        <a:t>Q6: Avg transaction up to $3,055.70</a:t>
                      </a:r>
                      <a:endParaRPr lang="en-US" sz="1200" kern="100">
                        <a:effectLst/>
                        <a:latin typeface="Aptos Display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43" marR="64643" marT="46174" marB="4617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 Display" panose="020B0004020202020204" pitchFamily="34" charset="0"/>
                        </a:rPr>
                        <a:t>Average transaction value is high in tech and accessories </a:t>
                      </a:r>
                      <a:endParaRPr lang="en-US" sz="1200" kern="100" dirty="0">
                        <a:effectLst/>
                        <a:latin typeface="Aptos Display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43" marR="64643" marT="46174" marB="46174" anchor="ctr"/>
                </a:tc>
                <a:extLst>
                  <a:ext uri="{0D108BD9-81ED-4DB2-BD59-A6C34878D82A}">
                    <a16:rowId xmlns:a16="http://schemas.microsoft.com/office/drawing/2014/main" val="570387220"/>
                  </a:ext>
                </a:extLst>
              </a:tr>
              <a:tr h="4685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ptos Display" panose="020B0004020202020204" pitchFamily="34" charset="0"/>
                        </a:rPr>
                        <a:t>Q6: All top-ranked results: Tech &amp; Accessories</a:t>
                      </a:r>
                      <a:endParaRPr lang="en-US" sz="1200" kern="100">
                        <a:effectLst/>
                        <a:latin typeface="Aptos Display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43" marR="64643" marT="46174" marB="4617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 Display" panose="020B0004020202020204" pitchFamily="34" charset="0"/>
                        </a:rPr>
                        <a:t>No competing category  — 100% dominance in top rankings</a:t>
                      </a:r>
                      <a:endParaRPr lang="en-US" sz="1200" kern="100" dirty="0">
                        <a:effectLst/>
                        <a:latin typeface="Aptos Display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43" marR="64643" marT="46174" marB="46174" anchor="ctr"/>
                </a:tc>
                <a:extLst>
                  <a:ext uri="{0D108BD9-81ED-4DB2-BD59-A6C34878D82A}">
                    <a16:rowId xmlns:a16="http://schemas.microsoft.com/office/drawing/2014/main" val="1208198081"/>
                  </a:ext>
                </a:extLst>
              </a:tr>
              <a:tr h="4685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ptos Display" panose="020B0004020202020204" pitchFamily="34" charset="0"/>
                        </a:rPr>
                        <a:t>Q6: Store 852 in South Carolina</a:t>
                      </a:r>
                      <a:endParaRPr lang="en-US" sz="1200" kern="100">
                        <a:effectLst/>
                        <a:latin typeface="Aptos Display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43" marR="64643" marT="46174" marB="4617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 Display" panose="020B0004020202020204" pitchFamily="34" charset="0"/>
                        </a:rPr>
                        <a:t>Focus inventory, promotions, and staff training at this store</a:t>
                      </a:r>
                      <a:endParaRPr lang="en-US" sz="1200" kern="100" dirty="0">
                        <a:effectLst/>
                        <a:latin typeface="Aptos Display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643" marR="64643" marT="46174" marB="46174" anchor="ctr"/>
                </a:tc>
                <a:extLst>
                  <a:ext uri="{0D108BD9-81ED-4DB2-BD59-A6C34878D82A}">
                    <a16:rowId xmlns:a16="http://schemas.microsoft.com/office/drawing/2014/main" val="2741968465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FEE27B92-F1F5-9C36-E4B3-75FE1441B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0650" y="16827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404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0CA74-C3E2-6E58-7816-FF2E3D6A5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33632"/>
            <a:ext cx="10353762" cy="970450"/>
          </a:xfrm>
        </p:spPr>
        <p:txBody>
          <a:bodyPr/>
          <a:lstStyle/>
          <a:p>
            <a:r>
              <a:rPr lang="en-US" dirty="0"/>
              <a:t>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3C7FD-AA36-F72D-EA9C-71EC9AB9C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3795" y="1959513"/>
            <a:ext cx="4876344" cy="3724392"/>
          </a:xfrm>
        </p:spPr>
        <p:txBody>
          <a:bodyPr>
            <a:normAutofit fontScale="77500" lnSpcReduction="20000"/>
          </a:bodyPr>
          <a:lstStyle/>
          <a:p>
            <a:endParaRPr lang="en-US" dirty="0"/>
          </a:p>
          <a:p>
            <a:pPr marL="36900" indent="0" algn="ctr">
              <a:buNone/>
            </a:pPr>
            <a:r>
              <a:rPr lang="en-US" sz="2800" b="1" dirty="0">
                <a:solidFill>
                  <a:schemeClr val="tx1"/>
                </a:solidFill>
              </a:rPr>
              <a:t>QUESTION# 4:</a:t>
            </a:r>
          </a:p>
          <a:p>
            <a:pPr marL="36900" indent="0" algn="ctr">
              <a:buNone/>
            </a:pPr>
            <a:endParaRPr lang="en-US" sz="2800" b="1" dirty="0">
              <a:solidFill>
                <a:schemeClr val="tx1"/>
              </a:solidFill>
            </a:endParaRPr>
          </a:p>
          <a:p>
            <a:pPr marL="36900" indent="0" algn="ctr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is the number of</a:t>
            </a:r>
          </a:p>
          <a:p>
            <a:pPr marL="36900" indent="0" algn="ctr">
              <a:buNone/>
            </a:pPr>
            <a:r>
              <a:rPr lang="en-US" sz="2800" b="1" dirty="0">
                <a:solidFill>
                  <a:schemeClr val="tx1"/>
                </a:solidFill>
              </a:rPr>
              <a:t> transactions per month </a:t>
            </a:r>
          </a:p>
          <a:p>
            <a:pPr marL="36900" indent="0" algn="ctr">
              <a:buNone/>
            </a:pPr>
            <a:r>
              <a:rPr lang="en-US" sz="2800" b="1" dirty="0">
                <a:solidFill>
                  <a:schemeClr val="tx1"/>
                </a:solidFill>
              </a:rPr>
              <a:t>and </a:t>
            </a:r>
          </a:p>
          <a:p>
            <a:pPr marL="36900" indent="0" algn="ctr">
              <a:buNone/>
            </a:pPr>
            <a:r>
              <a:rPr lang="en-US" sz="2800" b="1" dirty="0">
                <a:solidFill>
                  <a:schemeClr val="tx1"/>
                </a:solidFill>
              </a:rPr>
              <a:t>average transaction size </a:t>
            </a:r>
          </a:p>
          <a:p>
            <a:pPr marL="36900" indent="0" algn="ctr">
              <a:buNone/>
            </a:pPr>
            <a:r>
              <a:rPr lang="en-US" sz="2800" b="1" dirty="0">
                <a:solidFill>
                  <a:schemeClr val="tx1"/>
                </a:solidFill>
              </a:rPr>
              <a:t>by product category </a:t>
            </a:r>
          </a:p>
          <a:p>
            <a:pPr marL="36900" indent="0" algn="ctr">
              <a:buNone/>
            </a:pPr>
            <a:r>
              <a:rPr lang="en-US" sz="2800" b="1" dirty="0">
                <a:solidFill>
                  <a:schemeClr val="tx1"/>
                </a:solidFill>
              </a:rPr>
              <a:t>for the sales territory?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53D5157-86E4-DE23-98F7-990974456AE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104" y="1767932"/>
            <a:ext cx="4370832" cy="408736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A9FE6C-4A2A-F5F7-2D68-B4B4244E429B}"/>
              </a:ext>
            </a:extLst>
          </p:cNvPr>
          <p:cNvSpPr txBox="1"/>
          <p:nvPr/>
        </p:nvSpPr>
        <p:spPr>
          <a:xfrm>
            <a:off x="7365889" y="1293143"/>
            <a:ext cx="2733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PivotChart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BAFB3E-1039-061D-5919-E5DB136F11C6}"/>
              </a:ext>
            </a:extLst>
          </p:cNvPr>
          <p:cNvSpPr txBox="1"/>
          <p:nvPr/>
        </p:nvSpPr>
        <p:spPr>
          <a:xfrm>
            <a:off x="2362730" y="1236778"/>
            <a:ext cx="18089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Question</a:t>
            </a:r>
          </a:p>
        </p:txBody>
      </p:sp>
    </p:spTree>
    <p:extLst>
      <p:ext uri="{BB962C8B-B14F-4D97-AF65-F5344CB8AC3E}">
        <p14:creationId xmlns:p14="http://schemas.microsoft.com/office/powerpoint/2010/main" val="3324738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03E1130-C6B1-DAA8-0797-3A58E4BB4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92319"/>
            <a:ext cx="10353762" cy="970450"/>
          </a:xfrm>
        </p:spPr>
        <p:txBody>
          <a:bodyPr/>
          <a:lstStyle/>
          <a:p>
            <a:r>
              <a:rPr lang="en-US" dirty="0"/>
              <a:t>Visualization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0F62143-A563-3020-8DE3-CDEDB69CA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9119" y="1162769"/>
            <a:ext cx="4876344" cy="544884"/>
          </a:xfrm>
        </p:spPr>
        <p:txBody>
          <a:bodyPr/>
          <a:lstStyle/>
          <a:p>
            <a:r>
              <a:rPr lang="en-US" b="1" dirty="0"/>
              <a:t>Question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8F48E83-DF68-56DA-6537-511F510E42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7843" y="1195910"/>
            <a:ext cx="4895330" cy="544883"/>
          </a:xfrm>
        </p:spPr>
        <p:txBody>
          <a:bodyPr/>
          <a:lstStyle/>
          <a:p>
            <a:r>
              <a:rPr lang="en-US" b="1" dirty="0"/>
              <a:t>PivotChart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A905DF-21AB-D615-5CFC-21F39AB6038A}"/>
              </a:ext>
            </a:extLst>
          </p:cNvPr>
          <p:cNvSpPr txBox="1"/>
          <p:nvPr/>
        </p:nvSpPr>
        <p:spPr>
          <a:xfrm>
            <a:off x="1411356" y="2474400"/>
            <a:ext cx="404191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2"/>
                </a:solidFill>
              </a:rPr>
              <a:t>QUESTION# 2:</a:t>
            </a:r>
          </a:p>
          <a:p>
            <a:pPr algn="ctr"/>
            <a:endParaRPr lang="en-US" sz="2400" b="1" dirty="0">
              <a:solidFill>
                <a:schemeClr val="tx2"/>
              </a:solidFill>
            </a:endParaRPr>
          </a:p>
          <a:p>
            <a:pPr algn="ctr"/>
            <a:r>
              <a:rPr lang="en-US" sz="2400" b="1" dirty="0">
                <a:solidFill>
                  <a:schemeClr val="tx2"/>
                </a:solidFill>
              </a:rPr>
              <a:t>What is the </a:t>
            </a:r>
          </a:p>
          <a:p>
            <a:pPr algn="ctr"/>
            <a:r>
              <a:rPr lang="en-US" sz="2400" b="1" dirty="0">
                <a:solidFill>
                  <a:schemeClr val="tx2"/>
                </a:solidFill>
              </a:rPr>
              <a:t>month-by-month </a:t>
            </a:r>
          </a:p>
          <a:p>
            <a:pPr algn="ctr"/>
            <a:r>
              <a:rPr lang="en-US" sz="2400" b="1" dirty="0">
                <a:solidFill>
                  <a:schemeClr val="tx2"/>
                </a:solidFill>
              </a:rPr>
              <a:t>revenue breakdown </a:t>
            </a:r>
          </a:p>
          <a:p>
            <a:pPr algn="ctr"/>
            <a:r>
              <a:rPr lang="en-US" sz="2400" b="1" dirty="0">
                <a:solidFill>
                  <a:schemeClr val="tx2"/>
                </a:solidFill>
              </a:rPr>
              <a:t>for the sales </a:t>
            </a:r>
          </a:p>
          <a:p>
            <a:pPr algn="ctr"/>
            <a:r>
              <a:rPr lang="en-US" sz="2400" b="1" dirty="0">
                <a:solidFill>
                  <a:schemeClr val="tx2"/>
                </a:solidFill>
              </a:rPr>
              <a:t>territory? </a:t>
            </a:r>
          </a:p>
        </p:txBody>
      </p:sp>
      <p:pic>
        <p:nvPicPr>
          <p:cNvPr id="33" name="Content Placeholder 32">
            <a:extLst>
              <a:ext uri="{FF2B5EF4-FFF2-40B4-BE49-F238E27FC236}">
                <a16:creationId xmlns:a16="http://schemas.microsoft.com/office/drawing/2014/main" id="{15B48DE0-A55A-E0CF-AA97-00BD3729834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6248" y="1773935"/>
            <a:ext cx="4379976" cy="409651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1848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7157256-FED8-C804-D57A-85BB06E7D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Repository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D5A76D1-9E65-5C7D-DCD5-774B36A947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873" y="1580050"/>
            <a:ext cx="9125712" cy="451643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34377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06A0C-EBCE-A83C-9938-6BF4D3AD6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947" y="0"/>
            <a:ext cx="10353762" cy="970450"/>
          </a:xfrm>
        </p:spPr>
        <p:txBody>
          <a:bodyPr/>
          <a:lstStyle/>
          <a:p>
            <a:r>
              <a:rPr lang="en-US" dirty="0"/>
              <a:t>DASHBOARD- Store Monthly Revenue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B3139B-7D96-59EE-D909-F4A9308D34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68" y="970450"/>
            <a:ext cx="11932263" cy="576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6310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1514</TotalTime>
  <Words>625</Words>
  <Application>Microsoft Office PowerPoint</Application>
  <PresentationFormat>Widescreen</PresentationFormat>
  <Paragraphs>82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 Display</vt:lpstr>
      <vt:lpstr>Calisto MT</vt:lpstr>
      <vt:lpstr>Wingdings 2</vt:lpstr>
      <vt:lpstr>Slate</vt:lpstr>
      <vt:lpstr>Capstone Project</vt:lpstr>
      <vt:lpstr>Introduction</vt:lpstr>
      <vt:lpstr>Sales Analysis</vt:lpstr>
      <vt:lpstr>1. What is total revenue overall for sales in the South Carolina territory, plus the start date and end date that tell you what period the data covers?</vt:lpstr>
      <vt:lpstr>2. What is the month-by-month revenue breakdown for the sales territory? </vt:lpstr>
      <vt:lpstr>3. Provide a comparison of total revenue for the South Carolina sales territory and the region it belongs to. </vt:lpstr>
      <vt:lpstr>4. What is the number of transactions per month and average transaction size by product category for the sales territory? </vt:lpstr>
      <vt:lpstr>5. Can you provide a ranking of in-store sales performance by each store in the sales territory, or a ranking of online sales performance by state within an online sales territory? </vt:lpstr>
      <vt:lpstr>6. What is your recommendation for where to focus sales attention in the next quarter? </vt:lpstr>
      <vt:lpstr>How I Reached This Recommendation </vt:lpstr>
      <vt:lpstr>Visualization</vt:lpstr>
      <vt:lpstr>Visualization</vt:lpstr>
      <vt:lpstr>GitHub Repository </vt:lpstr>
      <vt:lpstr>DASHBOARD- Store Monthly Revenue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Deodat P. Sharma</dc:creator>
  <cp:lastModifiedBy>malaika tariq</cp:lastModifiedBy>
  <cp:revision>16</cp:revision>
  <dcterms:created xsi:type="dcterms:W3CDTF">2026-04-29T09:01:01Z</dcterms:created>
  <dcterms:modified xsi:type="dcterms:W3CDTF">2026-04-30T18:14:26Z</dcterms:modified>
</cp:coreProperties>
</file>